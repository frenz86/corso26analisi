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67" y="3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A321C6-D35C-77D5-9A61-1ED0D0B75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49BD999-4045-1BB8-5904-CC1B3E847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903BF4-5F5F-1591-4013-BE07A02E6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C6A2-9143-4D26-82E2-53B27410AA5B}" type="datetimeFigureOut">
              <a:rPr lang="it-IT" smtClean="0"/>
              <a:t>08/04/2026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79C4DF2-75DB-5DE9-7634-AC5DE34E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AE975B-0869-2C26-76D5-53B668FAF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5523-C976-40C4-96E8-4F5EE32D98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4705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4FD848-BB8B-9ABB-4133-3F1411382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C33135-FB78-C505-C85B-51B71BFF6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D3FEC62-6FA1-2F3B-0DCC-23D165657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C6A2-9143-4D26-82E2-53B27410AA5B}" type="datetimeFigureOut">
              <a:rPr lang="it-IT" smtClean="0"/>
              <a:t>08/04/2026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06CE29-171B-B557-4C72-FF5AE8DA7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C02D6E-915C-827D-94E9-F6A5B0FC3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5523-C976-40C4-96E8-4F5EE32D98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7976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A984B1-F513-B6EE-E8BD-8CDB4FE0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AFC61E-EAE5-1D71-9B4A-49B207305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3E9067-39A8-FBC4-3622-A1AECC81D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C6A2-9143-4D26-82E2-53B27410AA5B}" type="datetimeFigureOut">
              <a:rPr lang="it-IT" smtClean="0"/>
              <a:t>08/04/2026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8CAEBD-EE5C-C3DF-CA1E-954422327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BDF02A-6D9D-4E84-C2DD-C0AEFD54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5523-C976-40C4-96E8-4F5EE32D98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058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743D2E-CC9B-2C92-45BD-5C6268DD1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D61AAA-FE0C-F258-7B88-D5D8D56BC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C696116-4F57-CC09-AD85-32D204CD1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8762642-69D0-6DFE-3800-DE8D63B75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C6A2-9143-4D26-82E2-53B27410AA5B}" type="datetimeFigureOut">
              <a:rPr lang="it-IT" smtClean="0"/>
              <a:t>08/04/2026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BA150E3-5AB6-9FBA-D347-51AE7A15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04A1AB2-A78C-8A58-8A71-D56BEFA7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5523-C976-40C4-96E8-4F5EE32D98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286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207CE3-F95D-02EE-7D8C-52AB163C6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556284-0A3F-D331-D54C-191C043D3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8C48C66-B862-BCA3-7749-E4F3DA6D6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44A6987-5CF1-D5BE-058C-EB2D21BB3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1A0D06D-2919-FA87-E94C-1B5EE8296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724D261-3B9D-01ED-28B7-94ECC5D69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C6A2-9143-4D26-82E2-53B27410AA5B}" type="datetimeFigureOut">
              <a:rPr lang="it-IT" smtClean="0"/>
              <a:t>08/04/2026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88E3CD7-A29A-7A3C-19DF-E13662542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6555AB9-A1FF-493F-0D68-6EF089FA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5523-C976-40C4-96E8-4F5EE32D98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705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1975E9-8CCC-9403-7CD1-9B3D53A98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CEA1BDF-6A09-BBCD-D8F5-E0A179F9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C6A2-9143-4D26-82E2-53B27410AA5B}" type="datetimeFigureOut">
              <a:rPr lang="it-IT" smtClean="0"/>
              <a:t>08/04/2026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4219AFD-49C7-8E96-762E-B87F2971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BC18CA-CAC3-E004-8E12-F8F8C161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5523-C976-40C4-96E8-4F5EE32D98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797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BEE1766-49BB-1BB3-99EC-AD537334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C6A2-9143-4D26-82E2-53B27410AA5B}" type="datetimeFigureOut">
              <a:rPr lang="it-IT" smtClean="0"/>
              <a:t>08/04/2026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196B193-639D-50FD-72AF-554A0C8E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BB2898-B775-80E5-68FF-03F839AD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5523-C976-40C4-96E8-4F5EE32D98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1947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76CC0B-5C86-19B8-F7E4-833B4ED3B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8AE202-3B69-9A2F-A47C-6DFC9E30A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548D327-051A-D178-32D4-7F51A9DAE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0CDACB2-EC47-E938-02B4-714BF7AEE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C6A2-9143-4D26-82E2-53B27410AA5B}" type="datetimeFigureOut">
              <a:rPr lang="it-IT" smtClean="0"/>
              <a:t>08/04/2026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42295E2-CEC5-6796-52A6-A0D43F7C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927B883-42C9-5D7B-2198-F0FEEAE7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5523-C976-40C4-96E8-4F5EE32D98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9491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A2B1EA-AC6E-B030-D2AE-D1C83BA3B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CEF7DE7-65CA-35BC-ADDA-6D2CC0344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EB9BA53-495B-F9C6-0F7E-5D9683E1B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E4BF84A-F1FF-A197-F062-9F424376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C6A2-9143-4D26-82E2-53B27410AA5B}" type="datetimeFigureOut">
              <a:rPr lang="it-IT" smtClean="0"/>
              <a:t>08/04/2026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20B709F-AFCB-E3BF-4A17-0F4DB505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C597304-C276-209E-DCE2-2B0DDC23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5523-C976-40C4-96E8-4F5EE32D98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1234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0A9A51-B689-7A4D-EBA2-8140A976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3EF29D2-F7FE-E8F5-236B-228AE8A7B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77167C-5FA6-678F-CAFC-D89F2D619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C6A2-9143-4D26-82E2-53B27410AA5B}" type="datetimeFigureOut">
              <a:rPr lang="it-IT" smtClean="0"/>
              <a:t>08/04/2026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C922BB-B60F-9679-BC99-56AC7E13C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C70483E-5F44-B95D-7885-B04FC2C0F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5523-C976-40C4-96E8-4F5EE32D98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1464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EFD3AB6-D023-5E0C-1F97-07820F9E00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CFF13AA-29DF-3C0A-C15D-2816FABD7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F607377-0C9C-BEFF-D6B0-CEB63EAF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C6A2-9143-4D26-82E2-53B27410AA5B}" type="datetimeFigureOut">
              <a:rPr lang="it-IT" smtClean="0"/>
              <a:t>08/04/2026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30CD74C-677B-7066-5741-7D615E1E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A5E64E-4E6E-4C54-89FF-8C77DEA8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5523-C976-40C4-96E8-4F5EE32D98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4841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278EDA0-3A92-84B3-0BBF-3E3B805ED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BD624D0-3B9B-A560-BE88-CE88D37B1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F6B3D9-82BD-D19A-57FE-ABF036533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8C6A2-9143-4D26-82E2-53B27410AA5B}" type="datetimeFigureOut">
              <a:rPr lang="it-IT" smtClean="0"/>
              <a:t>08/04/2026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21FB12-1223-42B5-2C23-F88056904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84900AE-DFE0-49B3-CBA7-238FA0472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95523-C976-40C4-96E8-4F5EE32D98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0033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Dolce Vita Pasticceria,&#10;&#10;Il contenuto generato dall'IA potrebbe non essere corretto.">
            <a:extLst>
              <a:ext uri="{FF2B5EF4-FFF2-40B4-BE49-F238E27FC236}">
                <a16:creationId xmlns:a16="http://schemas.microsoft.com/office/drawing/2014/main" id="{677044E4-D364-9595-2D96-E24E87D14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62" y="-1"/>
            <a:ext cx="5562207" cy="3133771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638092FD-ED83-1077-D60A-8C4AF2E6FFFB}"/>
              </a:ext>
            </a:extLst>
          </p:cNvPr>
          <p:cNvSpPr/>
          <p:nvPr/>
        </p:nvSpPr>
        <p:spPr>
          <a:xfrm>
            <a:off x="6199293" y="0"/>
            <a:ext cx="213360" cy="6786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The image depicts an industrial workshop for Rossi &amp; Figli Autofficina, with two buildings, five mechanics, outdated equipment from the 90s, an annual revenue of ￢ﾂﾬ320,000, cash-only payments, and a lost ￢ﾂﾬ45,000 due to untracked parts and unbilled labor over two years.&#10;&#10;Il contenuto generato dall'IA potrebbe non essere corretto.">
            <a:extLst>
              <a:ext uri="{FF2B5EF4-FFF2-40B4-BE49-F238E27FC236}">
                <a16:creationId xmlns:a16="http://schemas.microsoft.com/office/drawing/2014/main" id="{68081677-150C-99BF-0BBF-CEE81C26A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710" y="-34401"/>
            <a:ext cx="5277644" cy="3348921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493CCB32-E324-FC88-4495-0D5E1806B27D}"/>
              </a:ext>
            </a:extLst>
          </p:cNvPr>
          <p:cNvSpPr/>
          <p:nvPr/>
        </p:nvSpPr>
        <p:spPr>
          <a:xfrm>
            <a:off x="-6738" y="3384973"/>
            <a:ext cx="12139471" cy="1787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 descr="Hotel Bella Vista,&#10;&#10;Il contenuto generato dall'IA potrebbe non essere corretto.">
            <a:extLst>
              <a:ext uri="{FF2B5EF4-FFF2-40B4-BE49-F238E27FC236}">
                <a16:creationId xmlns:a16="http://schemas.microsoft.com/office/drawing/2014/main" id="{F93469BC-C94D-F682-A184-E756D7E7A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1" y="3393440"/>
            <a:ext cx="6004469" cy="3132767"/>
          </a:xfrm>
          <a:prstGeom prst="rect">
            <a:avLst/>
          </a:prstGeom>
        </p:spPr>
      </p:pic>
      <p:pic>
        <p:nvPicPr>
          <p:cNvPr id="11" name="Immagine 10" descr="The image depicts a local independent library in a university city, with 25,000 books, a declining annual revenue, no online presence, and a dormant Facebook page with 4,200 inactive followers.&#10;&#10;Il contenuto generato dall'IA potrebbe non essere corretto.">
            <a:extLst>
              <a:ext uri="{FF2B5EF4-FFF2-40B4-BE49-F238E27FC236}">
                <a16:creationId xmlns:a16="http://schemas.microsoft.com/office/drawing/2014/main" id="{E1FC7A65-A12D-5646-9C5D-1558D22DB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710" y="3497476"/>
            <a:ext cx="5077986" cy="32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409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Grotti</dc:creator>
  <cp:lastModifiedBy>Daniele Grotti</cp:lastModifiedBy>
  <cp:revision>2</cp:revision>
  <dcterms:created xsi:type="dcterms:W3CDTF">2026-04-08T12:21:09Z</dcterms:created>
  <dcterms:modified xsi:type="dcterms:W3CDTF">2026-04-08T12:38:42Z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2026-04-08T12:23:48Z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610de372-5ad4-43e8-a170-e1aaab8af83a</vt:lpwstr>
  </property>
  <property fmtid="{D5CDD505-2E9C-101B-9397-08002B2CF9AE}" pid="7" name="MSIP_Label_defa4170-0d19-0005-0004-bc88714345d2_ActionId">
    <vt:lpwstr>c46b4d17-76f1-4d32-bd4b-52670627280c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